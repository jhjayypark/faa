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1255" r:id="rId2"/>
    <p:sldId id="1253" r:id="rId3"/>
    <p:sldId id="1258" r:id="rId4"/>
    <p:sldId id="1259" r:id="rId5"/>
    <p:sldId id="1260" r:id="rId6"/>
    <p:sldId id="1261" r:id="rId7"/>
    <p:sldId id="125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A129BF-5B12-4E2D-B7E3-CBF8E4B12BAC}" v="127" dt="2026-06-10T05:53:23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EUN YU (유지은)" userId="62cd7a3a-4516-4254-86d7-5dd29f2c3660" providerId="ADAL" clId="{DAD80EF3-858F-490C-BEC5-A2F5F4D4D27E}"/>
    <pc:docChg chg="undo custSel addSld delSld modSld sldOrd">
      <pc:chgData name="JIEUN YU (유지은)" userId="62cd7a3a-4516-4254-86d7-5dd29f2c3660" providerId="ADAL" clId="{DAD80EF3-858F-490C-BEC5-A2F5F4D4D27E}" dt="2026-06-10T05:55:14.068" v="1099" actId="47"/>
      <pc:docMkLst>
        <pc:docMk/>
      </pc:docMkLst>
      <pc:sldChg chg="addSp delSp modSp del mod ord">
        <pc:chgData name="JIEUN YU (유지은)" userId="62cd7a3a-4516-4254-86d7-5dd29f2c3660" providerId="ADAL" clId="{DAD80EF3-858F-490C-BEC5-A2F5F4D4D27E}" dt="2026-06-10T05:55:14.068" v="1099" actId="47"/>
        <pc:sldMkLst>
          <pc:docMk/>
          <pc:sldMk cId="1943125590" sldId="1252"/>
        </pc:sldMkLst>
        <pc:spChg chg="mod">
          <ac:chgData name="JIEUN YU (유지은)" userId="62cd7a3a-4516-4254-86d7-5dd29f2c3660" providerId="ADAL" clId="{DAD80EF3-858F-490C-BEC5-A2F5F4D4D27E}" dt="2026-06-04T20:11:25.768" v="745" actId="20577"/>
          <ac:spMkLst>
            <pc:docMk/>
            <pc:sldMk cId="1943125590" sldId="1252"/>
            <ac:spMk id="3" creationId="{A5D9C565-E62E-607E-4431-C63AEDC8EAB1}"/>
          </ac:spMkLst>
        </pc:spChg>
        <pc:spChg chg="mod">
          <ac:chgData name="JIEUN YU (유지은)" userId="62cd7a3a-4516-4254-86d7-5dd29f2c3660" providerId="ADAL" clId="{DAD80EF3-858F-490C-BEC5-A2F5F4D4D27E}" dt="2026-06-04T21:45:42.973" v="749" actId="1035"/>
          <ac:spMkLst>
            <pc:docMk/>
            <pc:sldMk cId="1943125590" sldId="1252"/>
            <ac:spMk id="4" creationId="{B4269421-308B-206D-5090-9757308D9288}"/>
          </ac:spMkLst>
        </pc:spChg>
        <pc:spChg chg="add mod">
          <ac:chgData name="JIEUN YU (유지은)" userId="62cd7a3a-4516-4254-86d7-5dd29f2c3660" providerId="ADAL" clId="{DAD80EF3-858F-490C-BEC5-A2F5F4D4D27E}" dt="2026-06-04T21:45:47.981" v="750" actId="1076"/>
          <ac:spMkLst>
            <pc:docMk/>
            <pc:sldMk cId="1943125590" sldId="1252"/>
            <ac:spMk id="6" creationId="{1FA65C82-1F43-C4A3-7CFA-0E2C75A2B825}"/>
          </ac:spMkLst>
        </pc:spChg>
        <pc:spChg chg="add mod">
          <ac:chgData name="JIEUN YU (유지은)" userId="62cd7a3a-4516-4254-86d7-5dd29f2c3660" providerId="ADAL" clId="{DAD80EF3-858F-490C-BEC5-A2F5F4D4D27E}" dt="2026-06-04T21:45:54.313" v="753" actId="1035"/>
          <ac:spMkLst>
            <pc:docMk/>
            <pc:sldMk cId="1943125590" sldId="1252"/>
            <ac:spMk id="8" creationId="{CD175366-75BE-07CF-0D11-F3358C20D2B3}"/>
          </ac:spMkLst>
        </pc:spChg>
        <pc:graphicFrameChg chg="mod modGraphic">
          <ac:chgData name="JIEUN YU (유지은)" userId="62cd7a3a-4516-4254-86d7-5dd29f2c3660" providerId="ADAL" clId="{DAD80EF3-858F-490C-BEC5-A2F5F4D4D27E}" dt="2026-06-04T20:11:24.054" v="743" actId="20577"/>
          <ac:graphicFrameMkLst>
            <pc:docMk/>
            <pc:sldMk cId="1943125590" sldId="1252"/>
            <ac:graphicFrameMk id="7" creationId="{E3F1A787-A824-305E-4628-7953C613D715}"/>
          </ac:graphicFrameMkLst>
        </pc:graphicFrameChg>
      </pc:sldChg>
      <pc:sldChg chg="add del">
        <pc:chgData name="JIEUN YU (유지은)" userId="62cd7a3a-4516-4254-86d7-5dd29f2c3660" providerId="ADAL" clId="{DAD80EF3-858F-490C-BEC5-A2F5F4D4D27E}" dt="2026-06-10T05:53:23.419" v="1086"/>
        <pc:sldMkLst>
          <pc:docMk/>
          <pc:sldMk cId="699023643" sldId="1253"/>
        </pc:sldMkLst>
      </pc:sldChg>
      <pc:sldChg chg="addSp delSp modSp add del mod">
        <pc:chgData name="JIEUN YU (유지은)" userId="62cd7a3a-4516-4254-86d7-5dd29f2c3660" providerId="ADAL" clId="{DAD80EF3-858F-490C-BEC5-A2F5F4D4D27E}" dt="2026-06-10T05:54:58.075" v="1094" actId="47"/>
        <pc:sldMkLst>
          <pc:docMk/>
          <pc:sldMk cId="3055375578" sldId="1254"/>
        </pc:sldMkLst>
        <pc:spChg chg="mod">
          <ac:chgData name="JIEUN YU (유지은)" userId="62cd7a3a-4516-4254-86d7-5dd29f2c3660" providerId="ADAL" clId="{DAD80EF3-858F-490C-BEC5-A2F5F4D4D27E}" dt="2026-06-04T23:43:48.782" v="1071" actId="20577"/>
          <ac:spMkLst>
            <pc:docMk/>
            <pc:sldMk cId="3055375578" sldId="1254"/>
            <ac:spMk id="3" creationId="{02D14394-F027-CA90-D117-0E1D76FB4850}"/>
          </ac:spMkLst>
        </pc:spChg>
        <pc:graphicFrameChg chg="mod modGraphic">
          <ac:chgData name="JIEUN YU (유지은)" userId="62cd7a3a-4516-4254-86d7-5dd29f2c3660" providerId="ADAL" clId="{DAD80EF3-858F-490C-BEC5-A2F5F4D4D27E}" dt="2026-06-04T23:47:49.906" v="1085" actId="5793"/>
          <ac:graphicFrameMkLst>
            <pc:docMk/>
            <pc:sldMk cId="3055375578" sldId="1254"/>
            <ac:graphicFrameMk id="7" creationId="{B35DAF2E-E960-B1C0-F6F7-27B851513FD1}"/>
          </ac:graphicFrameMkLst>
        </pc:graphicFrameChg>
      </pc:sldChg>
      <pc:sldChg chg="add">
        <pc:chgData name="JIEUN YU (유지은)" userId="62cd7a3a-4516-4254-86d7-5dd29f2c3660" providerId="ADAL" clId="{DAD80EF3-858F-490C-BEC5-A2F5F4D4D27E}" dt="2026-06-10T05:53:23.419" v="1086"/>
        <pc:sldMkLst>
          <pc:docMk/>
          <pc:sldMk cId="1378957840" sldId="1255"/>
        </pc:sldMkLst>
      </pc:sldChg>
      <pc:sldChg chg="add del">
        <pc:chgData name="JIEUN YU (유지은)" userId="62cd7a3a-4516-4254-86d7-5dd29f2c3660" providerId="ADAL" clId="{DAD80EF3-858F-490C-BEC5-A2F5F4D4D27E}" dt="2026-06-10T05:53:23.419" v="1086"/>
        <pc:sldMkLst>
          <pc:docMk/>
          <pc:sldMk cId="1465402713" sldId="1256"/>
        </pc:sldMkLst>
      </pc:sldChg>
      <pc:sldChg chg="add del">
        <pc:chgData name="JIEUN YU (유지은)" userId="62cd7a3a-4516-4254-86d7-5dd29f2c3660" providerId="ADAL" clId="{DAD80EF3-858F-490C-BEC5-A2F5F4D4D27E}" dt="2026-06-10T05:54:14.437" v="1091" actId="47"/>
        <pc:sldMkLst>
          <pc:docMk/>
          <pc:sldMk cId="321422489" sldId="1258"/>
        </pc:sldMkLst>
      </pc:sldChg>
      <pc:sldChg chg="add">
        <pc:chgData name="JIEUN YU (유지은)" userId="62cd7a3a-4516-4254-86d7-5dd29f2c3660" providerId="ADAL" clId="{DAD80EF3-858F-490C-BEC5-A2F5F4D4D27E}" dt="2026-06-10T05:53:23.419" v="1086"/>
        <pc:sldMkLst>
          <pc:docMk/>
          <pc:sldMk cId="2310785621" sldId="1259"/>
        </pc:sldMkLst>
      </pc:sldChg>
      <pc:sldChg chg="add">
        <pc:chgData name="JIEUN YU (유지은)" userId="62cd7a3a-4516-4254-86d7-5dd29f2c3660" providerId="ADAL" clId="{DAD80EF3-858F-490C-BEC5-A2F5F4D4D27E}" dt="2026-06-10T05:53:23.419" v="1086"/>
        <pc:sldMkLst>
          <pc:docMk/>
          <pc:sldMk cId="2589296316" sldId="1260"/>
        </pc:sldMkLst>
      </pc:sldChg>
      <pc:sldChg chg="add">
        <pc:chgData name="JIEUN YU (유지은)" userId="62cd7a3a-4516-4254-86d7-5dd29f2c3660" providerId="ADAL" clId="{DAD80EF3-858F-490C-BEC5-A2F5F4D4D27E}" dt="2026-06-10T05:53:23.419" v="1086"/>
        <pc:sldMkLst>
          <pc:docMk/>
          <pc:sldMk cId="727241789" sldId="1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C726E-EC8D-4BAD-BC93-A4089762C1D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BD04F-2036-4E3A-AF0A-A566C69FE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141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ko-KR" sz="1200" b="1" kern="1200" dirty="0">
              <a:solidFill>
                <a:schemeClr val="tx1"/>
              </a:solidFill>
              <a:effectLst/>
              <a:latin typeface="+mn-ea"/>
              <a:ea typeface="+mn-ea"/>
              <a:cs typeface="+mn-cs"/>
            </a:endParaRPr>
          </a:p>
          <a:p>
            <a:pPr marL="0" indent="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OO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에서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OA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로 전환 시 발생하는 문제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 algn="l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200" b="1" dirty="0">
                <a:solidFill>
                  <a:srgbClr val="0070C0"/>
                </a:solidFill>
                <a:latin typeface="+mn-ea"/>
                <a:ea typeface="+mn-ea"/>
              </a:rPr>
              <a:t> (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  <a:ea typeface="+mn-ea"/>
              </a:rPr>
              <a:t>이주희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  <a:ea typeface="+mn-ea"/>
              </a:rPr>
              <a:t>과거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  <a:ea typeface="+mn-ea"/>
              </a:rPr>
              <a:t>OA 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  <a:ea typeface="+mn-ea"/>
              </a:rPr>
              <a:t>조건이 부담이 되어서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  <a:ea typeface="+mn-ea"/>
              </a:rPr>
              <a:t>OO 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  <a:ea typeface="+mn-ea"/>
              </a:rPr>
              <a:t>방식으로 전환한 기사들이 많으나 </a:t>
            </a:r>
            <a:endParaRPr lang="en-US" altLang="ko-KR" sz="1200" b="1" dirty="0">
              <a:solidFill>
                <a:srgbClr val="0070C0"/>
              </a:solidFill>
              <a:latin typeface="+mn-ea"/>
              <a:ea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200" b="1" dirty="0">
                <a:solidFill>
                  <a:srgbClr val="0070C0"/>
                </a:solidFill>
                <a:latin typeface="+mn-ea"/>
                <a:ea typeface="+mn-ea"/>
              </a:rPr>
              <a:t>  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  <a:ea typeface="+mn-ea"/>
              </a:rPr>
              <a:t>다시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  <a:ea typeface="+mn-ea"/>
              </a:rPr>
              <a:t>OA 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  <a:ea typeface="+mn-ea"/>
              </a:rPr>
              <a:t>조건을 요구하면 기존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  <a:ea typeface="+mn-ea"/>
              </a:rPr>
              <a:t>OO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  <a:ea typeface="+mn-ea"/>
              </a:rPr>
              <a:t>기사들의 이탈 가능성이 높을 수 있고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  <a:ea typeface="+mn-ea"/>
              </a:rPr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200" b="1" dirty="0">
                <a:solidFill>
                  <a:srgbClr val="0070C0"/>
                </a:solidFill>
                <a:latin typeface="+mn-ea"/>
                <a:ea typeface="+mn-ea"/>
              </a:rPr>
              <a:t>  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  <a:ea typeface="+mn-ea"/>
              </a:rPr>
              <a:t>신규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  <a:ea typeface="+mn-ea"/>
              </a:rPr>
              <a:t>OA </a:t>
            </a:r>
            <a:r>
              <a:rPr lang="ko-KR" altLang="en-US" sz="1200" b="1" dirty="0">
                <a:solidFill>
                  <a:srgbClr val="0070C0"/>
                </a:solidFill>
                <a:latin typeface="+mn-ea"/>
                <a:ea typeface="+mn-ea"/>
              </a:rPr>
              <a:t>기사 충원도 현실적으로 어려움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CF419-39A4-4B45-8F24-806778D8292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61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4343B-8BD5-0BB1-94FC-756F0086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56929EB-74AD-DB02-2F58-3B3EBBEE9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4D584E-F839-0CD7-1C00-569DCB23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4123D-9CA6-4B66-BBE2-322FBD5F051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73522E-7FA0-193A-5380-531B5F01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219668-3012-56E7-263E-70D74A77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E56A-D73D-469C-8513-FCAA0E0F1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35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1402BD-BA15-6216-F971-051E5B85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C55BA9-8937-2B22-808B-9BCA76C9C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29B85-6153-E717-03F8-208582BF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4123D-9CA6-4B66-BBE2-322FBD5F051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2226A4-BDC7-2DA7-05C9-D55B6D5C6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3D68F3-1375-0438-2C66-5B06C9D54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E56A-D73D-469C-8513-FCAA0E0F1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78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0C7FF-6172-BFB2-EDFE-A7C44D552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90348-2CA7-F25B-B734-7AD8CEAC1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13DDB-8F39-F57D-20E2-93FE23EC0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4123D-9CA6-4B66-BBE2-322FBD5F051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7E5D4B-7F21-5DF7-F4F7-9EDD9F23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9AA29C-F517-4BDC-1ECF-DD7EE8B6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E56A-D73D-469C-8513-FCAA0E0F1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05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7BEE71-8D93-ABFB-DD37-BD84EDBC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610CE0-A3A8-A0E0-EC7C-FD54F037D7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911A40-8BA0-568C-C23F-FCB215003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A60627-35D7-501B-6168-A130995D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4123D-9CA6-4B66-BBE2-322FBD5F051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6EE243-E4E0-9EB6-8EC2-A6C42815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63546B-DA43-C30C-23FE-95683BDF2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E56A-D73D-469C-8513-FCAA0E0F1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90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10B617-BFBE-1467-ED0F-1DB4B7BA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B192ED-313B-2E82-EC05-AE995FAFE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AD23B3-3DC6-FA76-900A-40374C4E4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57E98A-46D1-0325-F4CF-B3D3068D7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C10C7D-98CD-9A5C-189F-C2986C014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17FD24-E050-61C4-CD83-399B839C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4123D-9CA6-4B66-BBE2-322FBD5F051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D4CD02-92FB-F900-FA2B-34075869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D44979-DFC9-5901-D8E8-A91DCE58C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E56A-D73D-469C-8513-FCAA0E0F1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70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2B4CF-42D5-F1CD-E255-7278E315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D0DC16-6030-A286-D9B2-8A860FE0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4123D-9CA6-4B66-BBE2-322FBD5F051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7C4C84-5667-BD4C-8B5A-2D1C9E72F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66C06C-79D2-8C57-A4C1-D99D85B35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E56A-D73D-469C-8513-FCAA0E0F1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67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74D1F4-AE8A-8F6B-22BD-6A967EDD0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4123D-9CA6-4B66-BBE2-322FBD5F051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0348DB-22AD-B914-5E6F-C9B9A1ED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C72637-2252-BB52-BC91-47DE6B4D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E56A-D73D-469C-8513-FCAA0E0F1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04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1C0C7-2E9E-D96C-8931-7C975D2B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50E946-D124-C96B-A0DF-3D87002B5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238E11-6E54-853D-3435-81B67D85D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BB2C1F-B533-B12C-C603-4ECD6003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4123D-9CA6-4B66-BBE2-322FBD5F051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27B3F1-8A28-3C40-B55D-BCF82412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1DFC6D-CFB9-F7DF-B010-B7E3B4FB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E56A-D73D-469C-8513-FCAA0E0F1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919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F8589-EF3E-4A30-2899-8A21F65AA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8C5DD5-8903-5A19-0DCF-0441F4E20C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AF0FF7-16FE-0935-85FE-8037F6CD9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E41582-B64F-0E91-3121-96A95F3B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4123D-9CA6-4B66-BBE2-322FBD5F051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F46569-899D-6808-686F-6608BFC94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9C927D-3778-2F77-E109-2361DFC5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E56A-D73D-469C-8513-FCAA0E0F1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081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EDEA13-8B58-C39B-158F-1BBD5EA64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6CF39A-D4BE-94FF-F3C4-078997F00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42F7A-552B-2E28-3CFF-E2C61055A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4123D-9CA6-4B66-BBE2-322FBD5F051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B22DB2-1543-C06A-62D3-63AA270FE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40D9E9-CDF9-0804-C9D0-05903374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E56A-D73D-469C-8513-FCAA0E0F1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29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2D0C36-5111-BDDE-524F-5D0128E9B2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602459-D349-7B24-3417-0E3537CEB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DEA431-BFEE-F759-FC5A-579166ADF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4123D-9CA6-4B66-BBE2-322FBD5F051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9EEE2B-3C4C-40C8-9688-32C027A3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3765A3-D79C-3974-0069-409037B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2E56A-D73D-469C-8513-FCAA0E0F1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59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381D77-83F1-1FC7-1903-C3E0AC43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2599E3-ADE1-8B8A-0CEF-952F626A0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B297F4-70F0-1E86-CF89-AF1A9AB66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4123D-9CA6-4B66-BBE2-322FBD5F051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047A85-352F-7AD6-99CA-9D7053186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DF3C45-4D04-28EF-DAD9-0DB04D144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2E56A-D73D-469C-8513-FCAA0E0F17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39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EEBF5-DA3B-BC1F-91D2-86F602D0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B7400C13-D5E9-0CC1-5AB3-27F596C8A8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61794"/>
            <a:ext cx="9144000" cy="0"/>
          </a:xfrm>
          <a:prstGeom prst="line">
            <a:avLst/>
          </a:prstGeom>
          <a:noFill/>
          <a:ln w="34925">
            <a:gradFill flip="none" rotWithShape="1">
              <a:gsLst>
                <a:gs pos="0">
                  <a:schemeClr val="accent1">
                    <a:lumMod val="0"/>
                  </a:schemeClr>
                </a:gs>
                <a:gs pos="59000">
                  <a:schemeClr val="accent1">
                    <a:tint val="44500"/>
                    <a:satMod val="160000"/>
                    <a:lumMod val="76000"/>
                    <a:alpha val="76000"/>
                  </a:schemeClr>
                </a:gs>
                <a:gs pos="8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round/>
            <a:headEnd/>
            <a:tailEnd/>
          </a:ln>
          <a:effectLst/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endParaRPr lang="en-US" sz="1350" dirty="0">
              <a:solidFill>
                <a:prstClr val="black"/>
              </a:solidFill>
            </a:endParaRPr>
          </a:p>
        </p:txBody>
      </p:sp>
      <p:graphicFrame>
        <p:nvGraphicFramePr>
          <p:cNvPr id="7" name="Table 19">
            <a:extLst>
              <a:ext uri="{FF2B5EF4-FFF2-40B4-BE49-F238E27FC236}">
                <a16:creationId xmlns:a16="http://schemas.microsoft.com/office/drawing/2014/main" id="{E3F1A787-A824-305E-4628-7953C613D715}"/>
              </a:ext>
            </a:extLst>
          </p:cNvPr>
          <p:cNvGraphicFramePr>
            <a:graphicFrameLocks noGrp="1"/>
          </p:cNvGraphicFramePr>
          <p:nvPr/>
        </p:nvGraphicFramePr>
        <p:xfrm>
          <a:off x="1833563" y="530230"/>
          <a:ext cx="8586787" cy="6143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243">
                  <a:extLst>
                    <a:ext uri="{9D8B030D-6E8A-4147-A177-3AD203B41FA5}">
                      <a16:colId xmlns:a16="http://schemas.microsoft.com/office/drawing/2014/main" val="961884145"/>
                    </a:ext>
                  </a:extLst>
                </a:gridCol>
                <a:gridCol w="663243">
                  <a:extLst>
                    <a:ext uri="{9D8B030D-6E8A-4147-A177-3AD203B41FA5}">
                      <a16:colId xmlns:a16="http://schemas.microsoft.com/office/drawing/2014/main" val="1914015129"/>
                    </a:ext>
                  </a:extLst>
                </a:gridCol>
                <a:gridCol w="7260301">
                  <a:extLst>
                    <a:ext uri="{9D8B030D-6E8A-4147-A177-3AD203B41FA5}">
                      <a16:colId xmlns:a16="http://schemas.microsoft.com/office/drawing/2014/main" val="273965049"/>
                    </a:ext>
                  </a:extLst>
                </a:gridCol>
              </a:tblGrid>
              <a:tr h="614362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이슈직원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인터뷰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입사일과 당사에 근무하시는 동안 맡으셨던 업무 설명 부탁드립니다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2019/01/01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에 입사하였고 입사할 당시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Savannah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지점 운송팀 업무와 지점 관리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송장 관리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야드 관리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를 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Safety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업무는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2020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년도부터 맡았습니다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United Southeastern Freight Lines LLC(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이하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United)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법인의 소유주가 사모님이 맞다고 유선상 말씀 주셨는데 맞습니까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예 맞습니다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법인 설립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 배경에 대해 설명 부탁드립니다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생계적인 이유와 아내가 무언가 직접 해보고 싶다는 의지가 있어 시작하게 되었습니다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코너스톤의 지입기사 부족도 그 이유 중 하나였습니다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코너스톤을 염두에 두고 시작한 것은 아니었습니다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처음에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United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어떻게 당사에게 소개되었습니까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로컬 운송에 차질이 없도록 드라이버를 확보하라는 내부 지시를 받았습니다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하지만 시장 전반적으로 기사 수급이 원활치 않아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제가 직접 차량을 투입하였습니다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차량 소유 및 운영 구조는 어떻게 됩니까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초기에 저희 소유 차량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대로 시작하였고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이후 코너스톤에는 최대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대까지 투입하였습니다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차량은 모두 저희 소유이며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Fleet Owner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와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Driver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가 수익을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50:50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으로 배분하는 구조입니다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드라이버의 구인 및 관련 급여 처리 등 실무는 배우자가 진행하였습니다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차량 구매 경로와 구매 자금 출처는 어떻게 됩니까</a:t>
                      </a:r>
                      <a:r>
                        <a:rPr 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차량 딜러십이나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Facebook Marketplace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등을 통해 확보하였습니다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Finance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통해 차량을 구매하였고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초기엔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Deposit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금액이 없어 </a:t>
                      </a: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개인 신용 대출을 하였습니다</a:t>
                      </a:r>
                      <a:r>
                        <a:rPr 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트럭 및 드라이버에 대한 보험은 어떤 방식으로 가입하셨습니까</a:t>
                      </a:r>
                      <a:r>
                        <a:rPr 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endParaRPr lang="en-US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AL(Auto Liability), GL(General Liability), PD(Physical Damage)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는 코너스톤을 통해 가입했고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트럭당 주별로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$35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씩 코너스톤에서 공제됩니다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운송사 설립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운영에 대해서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MGNT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보고한 적이 있습니까</a:t>
                      </a:r>
                      <a:r>
                        <a:rPr 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규모가 작고 단순 운영 구조라 별도로 보고하지 않았습니다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en-US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당사에 근무하면서 물류와 연관된 사업체를 소유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 하는 것이 사규에 위배된다는 사실을 인지하고 계셨습니까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자세히 알지 못했습니다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하지만 코너스톤에서 지위를 얻게 되면서 어떤 문제가 있을 수 있지 않을까 하는 생각을 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4290" marR="3429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100561"/>
                  </a:ext>
                </a:extLst>
              </a:tr>
            </a:tbl>
          </a:graphicData>
        </a:graphic>
      </p:graphicFrame>
      <p:sp>
        <p:nvSpPr>
          <p:cNvPr id="3" name="TextBox 1138937">
            <a:extLst>
              <a:ext uri="{FF2B5EF4-FFF2-40B4-BE49-F238E27FC236}">
                <a16:creationId xmlns:a16="http://schemas.microsoft.com/office/drawing/2014/main" id="{A5D9C565-E62E-607E-4431-C63AEDC8E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353" y="44226"/>
            <a:ext cx="3408236" cy="252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b">
              <a:lnSpc>
                <a:spcPct val="120000"/>
              </a:lnSpc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별첨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.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이슈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직원 인터뷰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Summary –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노상순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(1/2)</a:t>
            </a:r>
            <a:endParaRPr lang="ko-KR" altLang="en-US" sz="1050" b="1" dirty="0">
              <a:solidFill>
                <a:prstClr val="black"/>
              </a:solidFill>
              <a:latin typeface="맑은 고딕" pitchFamily="50" charset="-127"/>
              <a:ea typeface="맑은 고딕" panose="020B0503020000020004" pitchFamily="50" charset="-127"/>
              <a:cs typeface="Arial" charset="0"/>
            </a:endParaRPr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B4269421-308B-206D-5090-9757308D9288}"/>
              </a:ext>
            </a:extLst>
          </p:cNvPr>
          <p:cNvSpPr/>
          <p:nvPr/>
        </p:nvSpPr>
        <p:spPr>
          <a:xfrm>
            <a:off x="2098944" y="1903872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/>
              <a:t>United </a:t>
            </a:r>
            <a:r>
              <a:rPr lang="ko-KR" altLang="en-US" sz="800" b="1" dirty="0"/>
              <a:t>법인</a:t>
            </a:r>
            <a:endParaRPr lang="en-US" altLang="ko-KR" sz="800" b="1" dirty="0"/>
          </a:p>
          <a:p>
            <a:pPr algn="ctr"/>
            <a:r>
              <a:rPr lang="ko-KR" altLang="en-US" sz="800" b="1" dirty="0"/>
              <a:t>설립 배경</a:t>
            </a:r>
            <a:endParaRPr lang="en-US" altLang="ko-KR" sz="800" b="1" dirty="0"/>
          </a:p>
        </p:txBody>
      </p:sp>
      <p:sp>
        <p:nvSpPr>
          <p:cNvPr id="9" name="화살표: 오각형 8">
            <a:extLst>
              <a:ext uri="{FF2B5EF4-FFF2-40B4-BE49-F238E27FC236}">
                <a16:creationId xmlns:a16="http://schemas.microsoft.com/office/drawing/2014/main" id="{ACB9A713-675F-C0E1-73F1-594E1EA9F762}"/>
              </a:ext>
            </a:extLst>
          </p:cNvPr>
          <p:cNvSpPr/>
          <p:nvPr/>
        </p:nvSpPr>
        <p:spPr>
          <a:xfrm>
            <a:off x="2098944" y="2638188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United </a:t>
            </a:r>
            <a:r>
              <a:rPr lang="ko-KR" altLang="en-US" sz="800" b="1"/>
              <a:t>시작</a:t>
            </a:r>
            <a:endParaRPr lang="en-US" altLang="ko-KR" sz="800" b="1" dirty="0"/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2F019D00-4E3B-B323-1B7D-C97A91B07740}"/>
              </a:ext>
            </a:extLst>
          </p:cNvPr>
          <p:cNvSpPr/>
          <p:nvPr/>
        </p:nvSpPr>
        <p:spPr>
          <a:xfrm>
            <a:off x="2098943" y="4090328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차량 구매</a:t>
            </a:r>
            <a:endParaRPr lang="en-US" altLang="ko-KR" sz="800" b="1" dirty="0"/>
          </a:p>
          <a:p>
            <a:pPr algn="ctr"/>
            <a:r>
              <a:rPr lang="ko-KR" altLang="en-US" sz="800" b="1" dirty="0"/>
              <a:t>자금 출처</a:t>
            </a:r>
            <a:endParaRPr lang="en-US" altLang="ko-KR" sz="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6D8B2-9DA4-F74A-AA58-0324E8BB3C9B}"/>
              </a:ext>
            </a:extLst>
          </p:cNvPr>
          <p:cNvSpPr txBox="1"/>
          <p:nvPr/>
        </p:nvSpPr>
        <p:spPr>
          <a:xfrm>
            <a:off x="5418668" y="6671572"/>
            <a:ext cx="1354665" cy="20884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14/5/81</a:t>
            </a:r>
          </a:p>
        </p:txBody>
      </p:sp>
    </p:spTree>
    <p:extLst>
      <p:ext uri="{BB962C8B-B14F-4D97-AF65-F5344CB8AC3E}">
        <p14:creationId xmlns:p14="http://schemas.microsoft.com/office/powerpoint/2010/main" val="1378957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F93D6-3348-C275-68F7-4DCF8128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E29A0EA-D3CF-3E45-3CF4-834803629E9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24000" y="346513"/>
            <a:ext cx="9144000" cy="12075"/>
          </a:xfrm>
          <a:prstGeom prst="line">
            <a:avLst/>
          </a:prstGeom>
          <a:noFill/>
          <a:ln w="34925">
            <a:gradFill flip="none" rotWithShape="1">
              <a:gsLst>
                <a:gs pos="0">
                  <a:schemeClr val="accent1">
                    <a:lumMod val="0"/>
                  </a:schemeClr>
                </a:gs>
                <a:gs pos="59000">
                  <a:schemeClr val="accent1">
                    <a:tint val="44500"/>
                    <a:satMod val="160000"/>
                    <a:lumMod val="76000"/>
                    <a:alpha val="76000"/>
                  </a:schemeClr>
                </a:gs>
                <a:gs pos="8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round/>
            <a:headEnd/>
            <a:tailEnd/>
          </a:ln>
          <a:effectLst/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endParaRPr lang="en-US" sz="1350" dirty="0">
              <a:solidFill>
                <a:prstClr val="black"/>
              </a:solidFill>
            </a:endParaRPr>
          </a:p>
        </p:txBody>
      </p:sp>
      <p:graphicFrame>
        <p:nvGraphicFramePr>
          <p:cNvPr id="7" name="Table 19">
            <a:extLst>
              <a:ext uri="{FF2B5EF4-FFF2-40B4-BE49-F238E27FC236}">
                <a16:creationId xmlns:a16="http://schemas.microsoft.com/office/drawing/2014/main" id="{33824043-68D1-38C7-1C5A-44E68755713E}"/>
              </a:ext>
            </a:extLst>
          </p:cNvPr>
          <p:cNvGraphicFramePr>
            <a:graphicFrameLocks noGrp="1"/>
          </p:cNvGraphicFramePr>
          <p:nvPr/>
        </p:nvGraphicFramePr>
        <p:xfrm>
          <a:off x="1738313" y="428249"/>
          <a:ext cx="8715375" cy="6345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175">
                  <a:extLst>
                    <a:ext uri="{9D8B030D-6E8A-4147-A177-3AD203B41FA5}">
                      <a16:colId xmlns:a16="http://schemas.microsoft.com/office/drawing/2014/main" val="961884145"/>
                    </a:ext>
                  </a:extLst>
                </a:gridCol>
                <a:gridCol w="673175">
                  <a:extLst>
                    <a:ext uri="{9D8B030D-6E8A-4147-A177-3AD203B41FA5}">
                      <a16:colId xmlns:a16="http://schemas.microsoft.com/office/drawing/2014/main" val="1914015129"/>
                    </a:ext>
                  </a:extLst>
                </a:gridCol>
                <a:gridCol w="7369025">
                  <a:extLst>
                    <a:ext uri="{9D8B030D-6E8A-4147-A177-3AD203B41FA5}">
                      <a16:colId xmlns:a16="http://schemas.microsoft.com/office/drawing/2014/main" val="273965049"/>
                    </a:ext>
                  </a:extLst>
                </a:gridCol>
              </a:tblGrid>
              <a:tr h="629103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이슈직원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인터뷰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이주희 대리가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United Owner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Contact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하려하니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신경 쓰지 마세요 제가 알아서 할게요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”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라고 차장님께 답변 들었다고 하는데 기억나는 부분 있으십니까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연락이 필요하면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제가 연락해보겠습니다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”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 정도였습니다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“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신경 쓰지 마세요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”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라고는 얘기하지 않았습니다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이윤주님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(Julia Lee)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명의의 다른 법인인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Savannah Freight Lines LLC(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이하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Savannah Freight)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설립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 배경에 대해 설명 부탁드립니다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해당 법인은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DOC, MC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넘버가 있는 회사이고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작년인가 재작년에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Hyundai Metaplant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관련 셔틀 운송을 염두에 두고 설립하였습니다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코너스톤과는 무관한 운송 회사입니다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진단팀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화물의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Dispatch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누가합니까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고객사가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Dispatch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를 직접합니다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코너스톤과 해당 법인이 과거 한차례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$1,200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거래가 있었고 그 이후에는 없었던 걸로 전상상 확인하였습니다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관련해서 설명 부탁드립니다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당시 코너스톤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Pre-Pull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이 갑자기 백몇십대가 한번에 들어와서 코너스톤 드라이버가 부족하여 어쩔 수 없이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Savannah Freight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드라이버를 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투입하여 그날 업무를 지원했습니다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Savannah Freight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법인에는 몇 대의 차량이 있습니까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총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대의 차량이 있고 현재 자차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대로만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Shuttle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운송을 하고 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차량만 제공 하면 고객사에서 직접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Dispatch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가 다 이루어지는 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구조이기 때문에 제가 직접 신경 쓰는 부분은 없습니다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대신 보험료는 조금 높은 편에 속합니다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해당 법인은 최초 회계사로 추정되는 주소로 등록이 됐었고 </a:t>
                      </a:r>
                      <a:r>
                        <a:rPr lang="en-US" altLang="ko-KR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23</a:t>
                      </a:r>
                      <a:r>
                        <a:rPr lang="ko-KR" alt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현재 </a:t>
                      </a:r>
                      <a:r>
                        <a:rPr lang="en-US" altLang="ko-KR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CSD </a:t>
                      </a:r>
                      <a:r>
                        <a:rPr lang="ko-KR" alt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소속 직원인 </a:t>
                      </a:r>
                      <a:r>
                        <a:rPr lang="en-US" altLang="ko-KR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Turner </a:t>
                      </a:r>
                      <a:r>
                        <a:rPr lang="ko-KR" alt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과장의 개인 집주소로 법인의 주소지가 변경이 됩니다</a:t>
                      </a:r>
                      <a:r>
                        <a:rPr lang="en-US" altLang="ko-KR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이에 대한 사유는 무엇입니까</a:t>
                      </a:r>
                      <a:r>
                        <a:rPr lang="en-US" altLang="ko-KR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?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보험사에서 </a:t>
                      </a: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United</a:t>
                      </a:r>
                      <a:r>
                        <a:rPr lang="ko-KR" altLang="en-US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와 동일한 주소지를 </a:t>
                      </a: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confirm</a:t>
                      </a:r>
                      <a:r>
                        <a:rPr lang="ko-KR" altLang="en-US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해주지 않아</a:t>
                      </a: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다른 주소지로 등록하였습니다</a:t>
                      </a: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경신이라는 업체서 </a:t>
                      </a: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Metaplant </a:t>
                      </a:r>
                      <a:r>
                        <a:rPr lang="ko-KR" altLang="en-US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근처 회사와 </a:t>
                      </a:r>
                      <a:endParaRPr lang="en-US" altLang="ko-KR" sz="800" b="1" u="none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거래를 원한다 하여</a:t>
                      </a: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Ellabell</a:t>
                      </a:r>
                      <a:r>
                        <a:rPr lang="ko-KR" altLang="en-US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쪽 주소지가 필요했습니다</a:t>
                      </a: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그래서 </a:t>
                      </a: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Turner Cameron </a:t>
                      </a:r>
                      <a:r>
                        <a:rPr lang="ko-KR" altLang="en-US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과장에게 사적으로 주소지를 잠시 빌릴 수 있는지 부탁했습니다</a:t>
                      </a: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none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Turner </a:t>
                      </a:r>
                      <a:r>
                        <a:rPr lang="ko-KR" altLang="en-US" sz="800" b="1" u="none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과장은 제 요청을 받아주었을 뿐</a:t>
                      </a:r>
                      <a:r>
                        <a:rPr lang="en-US" altLang="ko-KR" sz="800" b="1" u="none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u="none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해당 회사의 정보나 목적에 대해서는 전혀 알지 못합니다</a:t>
                      </a:r>
                      <a:r>
                        <a:rPr lang="en-US" altLang="ko-KR" sz="800" b="1" u="none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최근 저희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Savannah Yard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에서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Savannah Freight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법인의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Placard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달고 있는 차량이 확인됐는데 저희 화물을 운송하는 것은 아닙니까</a:t>
                      </a:r>
                      <a:r>
                        <a:rPr 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지난달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Port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안에서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United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트럭과 크레인이 충돌하는 사고가 있었습니다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트럭을 교체해야 업무를 수행할 수 있기 때문에 당시 운행을 하지 않는</a:t>
                      </a: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Savannah Freight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트럭을 통해 운송하려 하였지만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Inspection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과정 중 문제가 확인되어 실제 운행을 하지는 못했습니다</a:t>
                      </a:r>
                      <a:r>
                        <a:rPr 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United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社 에 더 많은 물량이 배분되게끔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Dispatcher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에게 부탁 또는 지시를 한적이 있습니까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Dispatcher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에게 특혜를 요청한 적 없습니다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지금까지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Dispatcher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는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번 바뀌었고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그동안 아무도 저와 해당 법인의 관계에 대해 몰랐습니다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과거 정산기록 확인 중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Savannah Port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번째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7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번째 돌면 금액을 추가금액을 지급한 내역이 확인되었습니다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관련해서 설명 부탁드립니다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저는 지급에 대한 권한이 없었습니다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윤광철 팀장과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Operation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팀에서 결정해 반영하였습니다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 직원과 연결 이슈 확인을 위해 두법인과 노상순 차장님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이윤주님의 은행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Statement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 제공 가능하십니까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개인정보에 해당돼 파일 공유는 어려울 것 같습니다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후에 같이 눈으로 확인하실 수 있도록 보여드리는 건 가능합니다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4290" marR="3429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100561"/>
                  </a:ext>
                </a:extLst>
              </a:tr>
            </a:tbl>
          </a:graphicData>
        </a:graphic>
      </p:graphicFrame>
      <p:sp>
        <p:nvSpPr>
          <p:cNvPr id="3" name="TextBox 1138937">
            <a:extLst>
              <a:ext uri="{FF2B5EF4-FFF2-40B4-BE49-F238E27FC236}">
                <a16:creationId xmlns:a16="http://schemas.microsoft.com/office/drawing/2014/main" id="{EACAD45B-F35B-9A84-5EC5-8004588F8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3340" y="38039"/>
            <a:ext cx="3408236" cy="252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b">
              <a:lnSpc>
                <a:spcPct val="120000"/>
              </a:lnSpc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별첨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.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이슈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직원 인터뷰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Summary –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노상순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(2/2)</a:t>
            </a:r>
            <a:endParaRPr lang="ko-KR" altLang="en-US" sz="1050" b="1" dirty="0">
              <a:solidFill>
                <a:prstClr val="black"/>
              </a:solidFill>
              <a:latin typeface="맑은 고딕" pitchFamily="50" charset="-127"/>
              <a:ea typeface="맑은 고딕" panose="020B0503020000020004" pitchFamily="50" charset="-127"/>
              <a:cs typeface="Arial" charset="0"/>
            </a:endParaRPr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E0B39820-27A9-45B9-CDF8-5E3CB7D6D7BB}"/>
              </a:ext>
            </a:extLst>
          </p:cNvPr>
          <p:cNvSpPr/>
          <p:nvPr/>
        </p:nvSpPr>
        <p:spPr>
          <a:xfrm>
            <a:off x="2000332" y="1091440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/>
              <a:t>Sav Freight </a:t>
            </a:r>
            <a:r>
              <a:rPr lang="ko-KR" altLang="en-US" sz="800" b="1" dirty="0"/>
              <a:t>법인</a:t>
            </a:r>
            <a:endParaRPr lang="en-US" altLang="ko-KR" sz="800" b="1" dirty="0"/>
          </a:p>
          <a:p>
            <a:pPr algn="ctr"/>
            <a:r>
              <a:rPr lang="ko-KR" altLang="en-US" sz="800" b="1" dirty="0"/>
              <a:t>설립 배경</a:t>
            </a:r>
            <a:endParaRPr lang="en-US" altLang="ko-KR" sz="800" b="1" dirty="0"/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04CF813A-0AF5-F5CE-250C-C5008BE03163}"/>
              </a:ext>
            </a:extLst>
          </p:cNvPr>
          <p:cNvSpPr/>
          <p:nvPr/>
        </p:nvSpPr>
        <p:spPr>
          <a:xfrm>
            <a:off x="2000331" y="3813520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/>
              <a:t>Sav Freight </a:t>
            </a:r>
          </a:p>
          <a:p>
            <a:pPr algn="ctr"/>
            <a:r>
              <a:rPr lang="ko-KR" altLang="en-US" sz="800" b="1" dirty="0"/>
              <a:t>주소 변경 사유</a:t>
            </a:r>
            <a:endParaRPr lang="en-US" altLang="ko-KR" sz="800" b="1" dirty="0"/>
          </a:p>
        </p:txBody>
      </p:sp>
      <p:sp>
        <p:nvSpPr>
          <p:cNvPr id="5" name="Action Button: Go Back or Previous 2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C9A0B5F-D8E2-4D13-685F-F8A1AC5AA42D}"/>
              </a:ext>
            </a:extLst>
          </p:cNvPr>
          <p:cNvSpPr/>
          <p:nvPr/>
        </p:nvSpPr>
        <p:spPr>
          <a:xfrm>
            <a:off x="10144127" y="103038"/>
            <a:ext cx="276223" cy="144109"/>
          </a:xfrm>
          <a:prstGeom prst="actionButtonBackPrevious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64815-EFC3-F56C-F8C5-312BA7F5A3FF}"/>
              </a:ext>
            </a:extLst>
          </p:cNvPr>
          <p:cNvSpPr txBox="1"/>
          <p:nvPr/>
        </p:nvSpPr>
        <p:spPr>
          <a:xfrm>
            <a:off x="5418668" y="6707432"/>
            <a:ext cx="1354665" cy="20884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15/5/81</a:t>
            </a:r>
          </a:p>
        </p:txBody>
      </p:sp>
    </p:spTree>
    <p:extLst>
      <p:ext uri="{BB962C8B-B14F-4D97-AF65-F5344CB8AC3E}">
        <p14:creationId xmlns:p14="http://schemas.microsoft.com/office/powerpoint/2010/main" val="699023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33999-DAD1-8CBB-7876-FD157039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5B0B6A7B-C400-8EFA-9FD1-95E906211F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61794"/>
            <a:ext cx="9144000" cy="0"/>
          </a:xfrm>
          <a:prstGeom prst="line">
            <a:avLst/>
          </a:prstGeom>
          <a:noFill/>
          <a:ln w="34925">
            <a:gradFill flip="none" rotWithShape="1">
              <a:gsLst>
                <a:gs pos="0">
                  <a:schemeClr val="accent1">
                    <a:lumMod val="0"/>
                  </a:schemeClr>
                </a:gs>
                <a:gs pos="59000">
                  <a:schemeClr val="accent1">
                    <a:tint val="44500"/>
                    <a:satMod val="160000"/>
                    <a:lumMod val="76000"/>
                    <a:alpha val="76000"/>
                  </a:schemeClr>
                </a:gs>
                <a:gs pos="8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round/>
            <a:headEnd/>
            <a:tailEnd/>
          </a:ln>
          <a:effectLst/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endParaRPr lang="en-US" sz="1350" dirty="0">
              <a:solidFill>
                <a:prstClr val="black"/>
              </a:solidFill>
            </a:endParaRPr>
          </a:p>
        </p:txBody>
      </p:sp>
      <p:graphicFrame>
        <p:nvGraphicFramePr>
          <p:cNvPr id="7" name="Table 19">
            <a:extLst>
              <a:ext uri="{FF2B5EF4-FFF2-40B4-BE49-F238E27FC236}">
                <a16:creationId xmlns:a16="http://schemas.microsoft.com/office/drawing/2014/main" id="{571003F0-B364-B71B-3AB4-8D571EBC3787}"/>
              </a:ext>
            </a:extLst>
          </p:cNvPr>
          <p:cNvGraphicFramePr>
            <a:graphicFrameLocks noGrp="1"/>
          </p:cNvGraphicFramePr>
          <p:nvPr/>
        </p:nvGraphicFramePr>
        <p:xfrm>
          <a:off x="1833563" y="530230"/>
          <a:ext cx="8586787" cy="5906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243">
                  <a:extLst>
                    <a:ext uri="{9D8B030D-6E8A-4147-A177-3AD203B41FA5}">
                      <a16:colId xmlns:a16="http://schemas.microsoft.com/office/drawing/2014/main" val="961884145"/>
                    </a:ext>
                  </a:extLst>
                </a:gridCol>
                <a:gridCol w="663243">
                  <a:extLst>
                    <a:ext uri="{9D8B030D-6E8A-4147-A177-3AD203B41FA5}">
                      <a16:colId xmlns:a16="http://schemas.microsoft.com/office/drawing/2014/main" val="1914015129"/>
                    </a:ext>
                  </a:extLst>
                </a:gridCol>
                <a:gridCol w="7260301">
                  <a:extLst>
                    <a:ext uri="{9D8B030D-6E8A-4147-A177-3AD203B41FA5}">
                      <a16:colId xmlns:a16="http://schemas.microsoft.com/office/drawing/2014/main" val="273965049"/>
                    </a:ext>
                  </a:extLst>
                </a:gridCol>
              </a:tblGrid>
              <a:tr h="5332688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관련직원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인터뷰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Turner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Cameron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 heard you are specialized in truck maintenance? Do you fix minor problems yourself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(Turner) Yes, things like fuse, chassis lights, tires, etc. We fix them on-site to avoid downtime</a:t>
                      </a:r>
                      <a:r>
                        <a:rPr 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How many owner operator trucks do we have in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 Port</a:t>
                      </a:r>
                      <a:r>
                        <a:rPr 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800" b="1" u="none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b="1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Turner</a:t>
                      </a:r>
                      <a:r>
                        <a:rPr lang="en-US" altLang="ko-KR" sz="800" b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We used to have 80, now it’s 61. Still 3 company trucks – 2 spares, 1 active. We’re moving to owner-operators</a:t>
                      </a:r>
                      <a:r>
                        <a:rPr lang="en-US" sz="800" b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Do you know the name of company United Southeastern Freight Lines LLC?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(Turner) Yes, they are one of our fleet owners – about 5 or 6 trucks.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Do you know the owner of the company?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(Turner) Not really. They don’t speak English very well, so whenever they needed something, Sean(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)’d say, “Don’t worry, I’ll translate.”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So, Sean(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노상순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talked with the owner of the company?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(Turner) Yes.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 owner of the company is Yun Joo Lee (Julia Lee) and she’s Mr. Noh’s wife. Did you know this</a:t>
                      </a:r>
                      <a:r>
                        <a:rPr 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Turner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I only knew the name, Julia Lee. I didn’t know her relationship to Mr. Noh</a:t>
                      </a:r>
                      <a:r>
                        <a:rPr 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Yun Joo Lee has another company called Savannah Freight Lines LLC. Do you know the company?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(Turner)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Yes, I do. Sean(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노상순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mentioned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 when Hyundai needed shuttle </a:t>
                      </a:r>
                      <a:r>
                        <a:rPr lang="en-US" altLang="ko-KR" sz="800" b="1" u="none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drivers,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he (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노상순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needed a physical address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for contract with Hyundai. I live in Ellabell, near Hyundai, so I agreed to let them use my address temporarily.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It is not normal to let someone use your address, so why did you let them?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1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Turner)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 really. It is just an address. It was only for one month.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Do you or did you have a financial relationship with Sean(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노상순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)?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(Turner) No financial relationship with him.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Do you have logistics business in your name or one of your family member?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(Turner)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No, I don’t own anything.</a:t>
                      </a:r>
                    </a:p>
                  </a:txBody>
                  <a:tcPr marL="34290" marR="3429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100561"/>
                  </a:ext>
                </a:extLst>
              </a:tr>
            </a:tbl>
          </a:graphicData>
        </a:graphic>
      </p:graphicFrame>
      <p:sp>
        <p:nvSpPr>
          <p:cNvPr id="3" name="TextBox 1138937">
            <a:extLst>
              <a:ext uri="{FF2B5EF4-FFF2-40B4-BE49-F238E27FC236}">
                <a16:creationId xmlns:a16="http://schemas.microsoft.com/office/drawing/2014/main" id="{6CC5AF66-2174-524A-EAB6-F949E7DBB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353" y="44226"/>
            <a:ext cx="3873082" cy="252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b">
              <a:lnSpc>
                <a:spcPct val="120000"/>
              </a:lnSpc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별첨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.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관련 직원 인터뷰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Summary – Turner Cameron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(1/1)</a:t>
            </a:r>
            <a:endParaRPr lang="ko-KR" altLang="en-US" sz="1050" b="1" dirty="0">
              <a:solidFill>
                <a:prstClr val="black"/>
              </a:solidFill>
              <a:latin typeface="맑은 고딕" pitchFamily="50" charset="-127"/>
              <a:ea typeface="맑은 고딕" panose="020B0503020000020004" pitchFamily="50" charset="-127"/>
              <a:cs typeface="Arial" charset="0"/>
            </a:endParaRPr>
          </a:p>
        </p:txBody>
      </p:sp>
      <p:sp>
        <p:nvSpPr>
          <p:cNvPr id="9" name="화살표: 오각형 8">
            <a:extLst>
              <a:ext uri="{FF2B5EF4-FFF2-40B4-BE49-F238E27FC236}">
                <a16:creationId xmlns:a16="http://schemas.microsoft.com/office/drawing/2014/main" id="{92AB680F-90FB-9605-8BC2-DE4006039C4D}"/>
              </a:ext>
            </a:extLst>
          </p:cNvPr>
          <p:cNvSpPr/>
          <p:nvPr/>
        </p:nvSpPr>
        <p:spPr>
          <a:xfrm>
            <a:off x="2068156" y="1631071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이슈 운송사 인지</a:t>
            </a:r>
            <a:endParaRPr lang="en-US" altLang="ko-KR" sz="800" b="1" dirty="0"/>
          </a:p>
        </p:txBody>
      </p:sp>
      <p:sp>
        <p:nvSpPr>
          <p:cNvPr id="8" name="화살표: 오각형 7">
            <a:extLst>
              <a:ext uri="{FF2B5EF4-FFF2-40B4-BE49-F238E27FC236}">
                <a16:creationId xmlns:a16="http://schemas.microsoft.com/office/drawing/2014/main" id="{20204928-567C-6EBE-07BB-4F5F2576FE88}"/>
              </a:ext>
            </a:extLst>
          </p:cNvPr>
          <p:cNvSpPr/>
          <p:nvPr/>
        </p:nvSpPr>
        <p:spPr>
          <a:xfrm>
            <a:off x="2068155" y="4259364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사바나 운송사</a:t>
            </a:r>
            <a:endParaRPr lang="en-US" altLang="ko-KR" sz="800" b="1" dirty="0"/>
          </a:p>
          <a:p>
            <a:pPr algn="ctr"/>
            <a:r>
              <a:rPr lang="ko-KR" altLang="en-US" sz="800" b="1" dirty="0"/>
              <a:t>주소 자택 인지</a:t>
            </a:r>
            <a:endParaRPr lang="en-US" altLang="ko-KR" sz="800" b="1" dirty="0"/>
          </a:p>
        </p:txBody>
      </p:sp>
      <p:sp>
        <p:nvSpPr>
          <p:cNvPr id="4" name="Action Button: Go Back or Previous 2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3021943-3AF8-F9FD-8CFE-422AD28A5D8A}"/>
              </a:ext>
            </a:extLst>
          </p:cNvPr>
          <p:cNvSpPr/>
          <p:nvPr/>
        </p:nvSpPr>
        <p:spPr>
          <a:xfrm>
            <a:off x="10144127" y="103038"/>
            <a:ext cx="276223" cy="144109"/>
          </a:xfrm>
          <a:prstGeom prst="actionButtonBackPrevious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E17CE-49AE-397F-2E19-DFC2297FDFAE}"/>
              </a:ext>
            </a:extLst>
          </p:cNvPr>
          <p:cNvSpPr txBox="1"/>
          <p:nvPr/>
        </p:nvSpPr>
        <p:spPr>
          <a:xfrm>
            <a:off x="5418668" y="6671572"/>
            <a:ext cx="1354665" cy="20884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16/5/81</a:t>
            </a:r>
          </a:p>
        </p:txBody>
      </p:sp>
    </p:spTree>
    <p:extLst>
      <p:ext uri="{BB962C8B-B14F-4D97-AF65-F5344CB8AC3E}">
        <p14:creationId xmlns:p14="http://schemas.microsoft.com/office/powerpoint/2010/main" val="32142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EEBF5-DA3B-BC1F-91D2-86F602D0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B7400C13-D5E9-0CC1-5AB3-27F596C8A8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61794"/>
            <a:ext cx="9144000" cy="0"/>
          </a:xfrm>
          <a:prstGeom prst="line">
            <a:avLst/>
          </a:prstGeom>
          <a:noFill/>
          <a:ln w="34925">
            <a:gradFill flip="none" rotWithShape="1">
              <a:gsLst>
                <a:gs pos="0">
                  <a:schemeClr val="accent1">
                    <a:lumMod val="0"/>
                  </a:schemeClr>
                </a:gs>
                <a:gs pos="59000">
                  <a:schemeClr val="accent1">
                    <a:tint val="44500"/>
                    <a:satMod val="160000"/>
                    <a:lumMod val="76000"/>
                    <a:alpha val="76000"/>
                  </a:schemeClr>
                </a:gs>
                <a:gs pos="8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round/>
            <a:headEnd/>
            <a:tailEnd/>
          </a:ln>
          <a:effectLst/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endParaRPr lang="en-US" sz="1350" dirty="0">
              <a:solidFill>
                <a:prstClr val="black"/>
              </a:solidFill>
            </a:endParaRPr>
          </a:p>
        </p:txBody>
      </p:sp>
      <p:graphicFrame>
        <p:nvGraphicFramePr>
          <p:cNvPr id="7" name="Table 19">
            <a:extLst>
              <a:ext uri="{FF2B5EF4-FFF2-40B4-BE49-F238E27FC236}">
                <a16:creationId xmlns:a16="http://schemas.microsoft.com/office/drawing/2014/main" id="{E3F1A787-A824-305E-4628-7953C613D715}"/>
              </a:ext>
            </a:extLst>
          </p:cNvPr>
          <p:cNvGraphicFramePr>
            <a:graphicFrameLocks noGrp="1"/>
          </p:cNvGraphicFramePr>
          <p:nvPr/>
        </p:nvGraphicFramePr>
        <p:xfrm>
          <a:off x="1833563" y="530230"/>
          <a:ext cx="8586787" cy="6143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243">
                  <a:extLst>
                    <a:ext uri="{9D8B030D-6E8A-4147-A177-3AD203B41FA5}">
                      <a16:colId xmlns:a16="http://schemas.microsoft.com/office/drawing/2014/main" val="961884145"/>
                    </a:ext>
                  </a:extLst>
                </a:gridCol>
                <a:gridCol w="663243">
                  <a:extLst>
                    <a:ext uri="{9D8B030D-6E8A-4147-A177-3AD203B41FA5}">
                      <a16:colId xmlns:a16="http://schemas.microsoft.com/office/drawing/2014/main" val="1914015129"/>
                    </a:ext>
                  </a:extLst>
                </a:gridCol>
                <a:gridCol w="7260301">
                  <a:extLst>
                    <a:ext uri="{9D8B030D-6E8A-4147-A177-3AD203B41FA5}">
                      <a16:colId xmlns:a16="http://schemas.microsoft.com/office/drawing/2014/main" val="273965049"/>
                    </a:ext>
                  </a:extLst>
                </a:gridCol>
              </a:tblGrid>
              <a:tr h="614362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현지직원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인터뷰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주재민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Savannah Port Drayage 12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명의 구조는 어떻게 됩니까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6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대는 한 플릿 오너 밑에 있는 기사님들이고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4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대는 개인 지입입니다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나머지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대는 라노스키라는 기사분이 개인 트럭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운영하십니다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그러면 특정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Fleet Owner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United Southeastern Freight Lines LLC (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United)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쪽이 전체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CAPA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60~70%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차지하는 구조입니까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그렇게 되는 것 같습니다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사바나에서는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CNTR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가 고객사로 바로 가지 않고 베이스를 거쳐 나가는 구조인데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방식이 정착된 이유를 알고 계십니까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그건 솔직히 잘 모릅니다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제가 오기 전부터 그렇게 운영됐고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전임자인 이정욱 대리님이 하시던 걸 그대로 이어서 한 겁니다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기사님들이 장거리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운송을 별로 안 좋아하십니다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 최대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마일 이상은 잘 안 가려고 하시고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트윅카드 없는 분들도 많아서 전환이 어렵습니다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작년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Port Drayage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월평균 몇 대정도 운송하였습니까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수치를 별도로 파악해본 적은 없습니다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제업무는 배차 위주이며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보고나 정산 수치는 제가 관리하고 있지 않습니다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기사들에게 기본 운임 외 추가비용 지급 케이스가 있었습니까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물량이 몰려 기사 수가 부족했던 시기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2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주간 기사들에게 추가 인센티브를 지급한 적이 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평소엔 그런일이 거의 없지만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물량이 물릴 때 임시 조치로 진행된 것입니다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United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라는 운송사 이름 들어보신 적 있으십니까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이름은 들어봤습니다 차량이 좀 많은 걸로 알고 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회사 오너가 누군지 아십니까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저는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Fleet Owner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누군지 까지는 모르고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저는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배차만 담당해서 기사분들 하고만 연락합니다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이윤주씨 명의로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Savannah Freight Lines LLC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라는 회사가 한군데 더 있는데 이 회사에 대해 알고 계십니까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처음 듣습니다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이윤주 씨가 오너고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노상순 차장님의 배우자인 건 알고 계십니까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처음 들었습니다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그게 회사 규정에 어떤 식으로 위반됩니까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34290" marR="3429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100561"/>
                  </a:ext>
                </a:extLst>
              </a:tr>
            </a:tbl>
          </a:graphicData>
        </a:graphic>
      </p:graphicFrame>
      <p:sp>
        <p:nvSpPr>
          <p:cNvPr id="3" name="TextBox 1138937">
            <a:extLst>
              <a:ext uri="{FF2B5EF4-FFF2-40B4-BE49-F238E27FC236}">
                <a16:creationId xmlns:a16="http://schemas.microsoft.com/office/drawing/2014/main" id="{A5D9C565-E62E-607E-4431-C63AEDC8E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353" y="44226"/>
            <a:ext cx="3408236" cy="252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b">
              <a:lnSpc>
                <a:spcPct val="120000"/>
              </a:lnSpc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별첨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.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현지 직원 인터뷰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Summary –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주재민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(1/2)</a:t>
            </a:r>
            <a:endParaRPr lang="ko-KR" altLang="en-US" sz="1050" b="1" dirty="0">
              <a:solidFill>
                <a:prstClr val="black"/>
              </a:solidFill>
              <a:latin typeface="맑은 고딕" pitchFamily="50" charset="-127"/>
              <a:ea typeface="맑은 고딕" panose="020B0503020000020004" pitchFamily="50" charset="-127"/>
              <a:cs typeface="Arial" charset="0"/>
            </a:endParaRPr>
          </a:p>
        </p:txBody>
      </p:sp>
      <p:sp>
        <p:nvSpPr>
          <p:cNvPr id="9" name="화살표: 오각형 8">
            <a:extLst>
              <a:ext uri="{FF2B5EF4-FFF2-40B4-BE49-F238E27FC236}">
                <a16:creationId xmlns:a16="http://schemas.microsoft.com/office/drawing/2014/main" id="{9134742E-8F24-34C3-E190-5C0820777E5C}"/>
              </a:ext>
            </a:extLst>
          </p:cNvPr>
          <p:cNvSpPr/>
          <p:nvPr/>
        </p:nvSpPr>
        <p:spPr>
          <a:xfrm>
            <a:off x="2086088" y="3988305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/>
              <a:t>United</a:t>
            </a:r>
            <a:r>
              <a:rPr lang="ko-KR" altLang="en-US" sz="800" b="1" dirty="0"/>
              <a:t> 인지 확인</a:t>
            </a:r>
            <a:endParaRPr lang="en-US" sz="800" b="1" dirty="0"/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45D4FF65-3D78-86CA-C093-3E55435676BB}"/>
              </a:ext>
            </a:extLst>
          </p:cNvPr>
          <p:cNvSpPr/>
          <p:nvPr/>
        </p:nvSpPr>
        <p:spPr>
          <a:xfrm>
            <a:off x="2086088" y="808904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지입 구조 및</a:t>
            </a:r>
            <a:endParaRPr lang="en-US" altLang="ko-KR" sz="800" b="1" dirty="0"/>
          </a:p>
          <a:p>
            <a:pPr algn="ctr"/>
            <a:r>
              <a:rPr lang="ko-KR" altLang="en-US" sz="800" b="1" dirty="0"/>
              <a:t>운송사 집중 현황</a:t>
            </a:r>
            <a:endParaRPr lang="en-US" sz="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C9E93-53FC-8C1A-EADF-6352F5DBC5E7}"/>
              </a:ext>
            </a:extLst>
          </p:cNvPr>
          <p:cNvSpPr txBox="1"/>
          <p:nvPr/>
        </p:nvSpPr>
        <p:spPr>
          <a:xfrm>
            <a:off x="5418668" y="6671572"/>
            <a:ext cx="1354665" cy="20884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17/5/81</a:t>
            </a:r>
          </a:p>
        </p:txBody>
      </p:sp>
    </p:spTree>
    <p:extLst>
      <p:ext uri="{BB962C8B-B14F-4D97-AF65-F5344CB8AC3E}">
        <p14:creationId xmlns:p14="http://schemas.microsoft.com/office/powerpoint/2010/main" val="2310785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D776C-CC2D-9D0C-EE82-C6C179CD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20167A01-2B7A-4F77-F21F-DC66A717B8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61794"/>
            <a:ext cx="9144000" cy="0"/>
          </a:xfrm>
          <a:prstGeom prst="line">
            <a:avLst/>
          </a:prstGeom>
          <a:noFill/>
          <a:ln w="34925">
            <a:gradFill flip="none" rotWithShape="1">
              <a:gsLst>
                <a:gs pos="0">
                  <a:schemeClr val="accent1">
                    <a:lumMod val="0"/>
                  </a:schemeClr>
                </a:gs>
                <a:gs pos="59000">
                  <a:schemeClr val="accent1">
                    <a:tint val="44500"/>
                    <a:satMod val="160000"/>
                    <a:lumMod val="76000"/>
                    <a:alpha val="76000"/>
                  </a:schemeClr>
                </a:gs>
                <a:gs pos="8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round/>
            <a:headEnd/>
            <a:tailEnd/>
          </a:ln>
          <a:effectLst/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endParaRPr lang="en-US" sz="1350" dirty="0">
              <a:solidFill>
                <a:prstClr val="black"/>
              </a:solidFill>
            </a:endParaRPr>
          </a:p>
        </p:txBody>
      </p:sp>
      <p:graphicFrame>
        <p:nvGraphicFramePr>
          <p:cNvPr id="7" name="Table 19">
            <a:extLst>
              <a:ext uri="{FF2B5EF4-FFF2-40B4-BE49-F238E27FC236}">
                <a16:creationId xmlns:a16="http://schemas.microsoft.com/office/drawing/2014/main" id="{1469FD1E-36E7-DA24-3DE0-77AE846344A3}"/>
              </a:ext>
            </a:extLst>
          </p:cNvPr>
          <p:cNvGraphicFramePr>
            <a:graphicFrameLocks noGrp="1"/>
          </p:cNvGraphicFramePr>
          <p:nvPr/>
        </p:nvGraphicFramePr>
        <p:xfrm>
          <a:off x="1833563" y="530231"/>
          <a:ext cx="8586787" cy="2514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243">
                  <a:extLst>
                    <a:ext uri="{9D8B030D-6E8A-4147-A177-3AD203B41FA5}">
                      <a16:colId xmlns:a16="http://schemas.microsoft.com/office/drawing/2014/main" val="961884145"/>
                    </a:ext>
                  </a:extLst>
                </a:gridCol>
                <a:gridCol w="663243">
                  <a:extLst>
                    <a:ext uri="{9D8B030D-6E8A-4147-A177-3AD203B41FA5}">
                      <a16:colId xmlns:a16="http://schemas.microsoft.com/office/drawing/2014/main" val="1914015129"/>
                    </a:ext>
                  </a:extLst>
                </a:gridCol>
                <a:gridCol w="7260301">
                  <a:extLst>
                    <a:ext uri="{9D8B030D-6E8A-4147-A177-3AD203B41FA5}">
                      <a16:colId xmlns:a16="http://schemas.microsoft.com/office/drawing/2014/main" val="273965049"/>
                    </a:ext>
                  </a:extLst>
                </a:gridCol>
              </a:tblGrid>
              <a:tr h="251442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현지직원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인터뷰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주재민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United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SAV Port Drayage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중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대를 운영한 시기도 있는데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몰아주기 의혹에 대해서는 어떻게 보십니까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저는 그냥 위에서 주어진 기사로 배치만 했습니다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Hiring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이나 계약은 제가 결정하지 않았습니다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United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쪽으로 배차하라는 지시나 요청 받은 적 있으십니까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없습니다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배차 관련해서는 아무도 그런 얘기 하신 적 없습니다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United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플릿 오너랑 직접 연락하십니까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아니요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저는 기사님들이랑만 일하고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플릿 오너랑은 주희 대리님이 연락하시는 걸로 알고 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United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쪽이나 플릿 오너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기사분들로부터 금전적 대가나 선물 받은 적 있습니까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주재민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없습니다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전혀 그런 일 없었습니다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100561"/>
                  </a:ext>
                </a:extLst>
              </a:tr>
            </a:tbl>
          </a:graphicData>
        </a:graphic>
      </p:graphicFrame>
      <p:sp>
        <p:nvSpPr>
          <p:cNvPr id="3" name="TextBox 1138937">
            <a:extLst>
              <a:ext uri="{FF2B5EF4-FFF2-40B4-BE49-F238E27FC236}">
                <a16:creationId xmlns:a16="http://schemas.microsoft.com/office/drawing/2014/main" id="{99DFF40F-6A2D-9C36-1686-4969DEB39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353" y="44226"/>
            <a:ext cx="3408236" cy="252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b">
              <a:lnSpc>
                <a:spcPct val="120000"/>
              </a:lnSpc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별첨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.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현지 직원 인터뷰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Summary –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주재민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(2/2)</a:t>
            </a:r>
            <a:endParaRPr lang="ko-KR" altLang="en-US" sz="1050" b="1" dirty="0">
              <a:solidFill>
                <a:prstClr val="black"/>
              </a:solidFill>
              <a:latin typeface="맑은 고딕" pitchFamily="50" charset="-127"/>
              <a:ea typeface="맑은 고딕" panose="020B0503020000020004" pitchFamily="50" charset="-127"/>
              <a:cs typeface="Arial" charset="0"/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2352426C-4746-E792-4B05-B380E262AE27}"/>
              </a:ext>
            </a:extLst>
          </p:cNvPr>
          <p:cNvSpPr/>
          <p:nvPr/>
        </p:nvSpPr>
        <p:spPr>
          <a:xfrm>
            <a:off x="2076563" y="605199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몰아주기 의혹</a:t>
            </a:r>
            <a:endParaRPr lang="en-US" altLang="ko-KR" sz="800" b="1" dirty="0"/>
          </a:p>
        </p:txBody>
      </p:sp>
      <p:sp>
        <p:nvSpPr>
          <p:cNvPr id="4" name="Action Button: Go Back or Previous 2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16DE201-53BE-B8DA-F9C7-1F52834D2C59}"/>
              </a:ext>
            </a:extLst>
          </p:cNvPr>
          <p:cNvSpPr/>
          <p:nvPr/>
        </p:nvSpPr>
        <p:spPr>
          <a:xfrm>
            <a:off x="10144127" y="103038"/>
            <a:ext cx="276223" cy="144109"/>
          </a:xfrm>
          <a:prstGeom prst="actionButtonBackPrevious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BFF3D-1CEF-7AFD-2C72-39140AE766CF}"/>
              </a:ext>
            </a:extLst>
          </p:cNvPr>
          <p:cNvSpPr txBox="1"/>
          <p:nvPr/>
        </p:nvSpPr>
        <p:spPr>
          <a:xfrm>
            <a:off x="5418668" y="6671572"/>
            <a:ext cx="1354665" cy="20884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18/5/81</a:t>
            </a:r>
          </a:p>
        </p:txBody>
      </p:sp>
    </p:spTree>
    <p:extLst>
      <p:ext uri="{BB962C8B-B14F-4D97-AF65-F5344CB8AC3E}">
        <p14:creationId xmlns:p14="http://schemas.microsoft.com/office/powerpoint/2010/main" val="258929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4E66D-AAB2-8665-5F9D-25E69256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9CBECA72-BD5F-9ED2-DBD7-F05CB5DB40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299948"/>
            <a:ext cx="9144000" cy="0"/>
          </a:xfrm>
          <a:prstGeom prst="line">
            <a:avLst/>
          </a:prstGeom>
          <a:noFill/>
          <a:ln w="34925">
            <a:gradFill flip="none" rotWithShape="1">
              <a:gsLst>
                <a:gs pos="0">
                  <a:schemeClr val="accent1">
                    <a:lumMod val="0"/>
                  </a:schemeClr>
                </a:gs>
                <a:gs pos="59000">
                  <a:schemeClr val="accent1">
                    <a:tint val="44500"/>
                    <a:satMod val="160000"/>
                    <a:lumMod val="76000"/>
                    <a:alpha val="76000"/>
                  </a:schemeClr>
                </a:gs>
                <a:gs pos="8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round/>
            <a:headEnd/>
            <a:tailEnd/>
          </a:ln>
          <a:effectLst/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endParaRPr lang="en-US" sz="1350" dirty="0">
              <a:solidFill>
                <a:prstClr val="black"/>
              </a:solidFill>
            </a:endParaRPr>
          </a:p>
        </p:txBody>
      </p:sp>
      <p:graphicFrame>
        <p:nvGraphicFramePr>
          <p:cNvPr id="7" name="Table 19">
            <a:extLst>
              <a:ext uri="{FF2B5EF4-FFF2-40B4-BE49-F238E27FC236}">
                <a16:creationId xmlns:a16="http://schemas.microsoft.com/office/drawing/2014/main" id="{3C09A347-3BAB-3CB6-FD06-0FF213652697}"/>
              </a:ext>
            </a:extLst>
          </p:cNvPr>
          <p:cNvGraphicFramePr>
            <a:graphicFrameLocks noGrp="1"/>
          </p:cNvGraphicFramePr>
          <p:nvPr/>
        </p:nvGraphicFramePr>
        <p:xfrm>
          <a:off x="1616170" y="413755"/>
          <a:ext cx="8959661" cy="6345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043">
                  <a:extLst>
                    <a:ext uri="{9D8B030D-6E8A-4147-A177-3AD203B41FA5}">
                      <a16:colId xmlns:a16="http://schemas.microsoft.com/office/drawing/2014/main" val="961884145"/>
                    </a:ext>
                  </a:extLst>
                </a:gridCol>
                <a:gridCol w="692043">
                  <a:extLst>
                    <a:ext uri="{9D8B030D-6E8A-4147-A177-3AD203B41FA5}">
                      <a16:colId xmlns:a16="http://schemas.microsoft.com/office/drawing/2014/main" val="1914015129"/>
                    </a:ext>
                  </a:extLst>
                </a:gridCol>
                <a:gridCol w="7575575">
                  <a:extLst>
                    <a:ext uri="{9D8B030D-6E8A-4147-A177-3AD203B41FA5}">
                      <a16:colId xmlns:a16="http://schemas.microsoft.com/office/drawing/2014/main" val="273965049"/>
                    </a:ext>
                  </a:extLst>
                </a:gridCol>
              </a:tblGrid>
              <a:tr h="626654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현지직원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인터뷰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이주희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입사 시기와 담당 업무는 무엇입니까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이주희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2023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월에 입사하였고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처음에는 회사 소속 기사 채용 업무를 맡았습니다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Savannah Port Drayage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기사나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OTR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지입 기사 채용 업무는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관여하지 말라는 지시가 있어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초반에는 관여하지 않았으나 이후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OTR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기사 채용까지 담당하게 되었습니다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OTR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기사 채용은 언제부터 담당하셨습니까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이주희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2024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월부터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OTR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지입 기사 채용을 전담하게 되었습니다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 차장이 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SAV Port 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지입기사 채용과 기사 관련 서류는 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SAV 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지점에서 </a:t>
                      </a:r>
                      <a:endParaRPr lang="en-US" altLang="ko-KR" sz="800" b="1" u="sng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알아서 하겠다고 해서 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Port 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지입기사 채용은 당시 관여하지 않았고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 차장 퇴사 이후부터는 제가 담당하게 되었습니다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OTR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지입기사 채용을 맡으셨던 당시 채용 과정은 어떠하였습니까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이주희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지입기사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Application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을 받으면 제가 사전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Screening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을 실행하고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SAV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에 있는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Turner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과장에게 인터뷰 진행을 요청합니다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다만 이부분에서 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노상순 차장의 지시로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Turner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과장 시간에 무조건 맞춰야 했고 미리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Turner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과장과 스케줄을 맞추더라도 지입기사와 인터뷰가 잘 진행되지 않았습니다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때때로 윤광철 팀장님이 지입기사 인터뷰를 직접 보신적도 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Turner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과장이 지입기사 채용에 소극적이거나 의도적으로 회피하였다고 느낀 적이 있습니까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이주희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잘 모르겠습니다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워낙 야드에 많이 계시기도 해서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….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이주희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DQ File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관련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제가 입사하기 이전의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Port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지입기사 서류 파일은 사바나 지점에서 관리한다고 들었으나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나중에 확인해보니 누락되어 있는 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부분이 많이 확인되었습니다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이에 대해 노상순 차장님께 여쭤보았더니 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분실된 것으로 생각하라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800" b="1" u="none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하셔서 기사들에게 직접 연락하여 업데이트 하였습니다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United Southeastern Freight Lines LLC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측과 직접 전화통화 해본적이 있습니까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이주희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없습니다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해당 업체는 저희 시스템상 유선번호도 없었고 해당 업체 이메일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Signature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에도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전화번호가 명시되어 있지 않았습니다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지급으로 일을 </a:t>
                      </a: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처리하기 위해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에서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Safety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매니저였던 </a:t>
                      </a:r>
                      <a:r>
                        <a:rPr lang="ko-KR" altLang="en-US" sz="800" b="1" u="sng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노상순 차장에게 두 차례 해당업체의 유선번호를 요청했으나</a:t>
                      </a:r>
                      <a:r>
                        <a:rPr lang="en-US" altLang="ko-KR" sz="800" b="1" u="sng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1" u="sng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sng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800" b="1" u="sng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따로 연락하지 마라</a:t>
                      </a:r>
                      <a:r>
                        <a:rPr lang="en-US" altLang="ko-KR" sz="800" b="1" u="sng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”</a:t>
                      </a:r>
                      <a:r>
                        <a:rPr lang="ko-KR" altLang="en-US" sz="800" b="1" u="sng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며 번호를 알려주지 않았습니다</a:t>
                      </a:r>
                      <a:r>
                        <a:rPr lang="en-US" altLang="ko-KR" sz="800" b="1" u="sng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이윤주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(Julia Lee)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접촉한 적이 있습니까</a:t>
                      </a:r>
                      <a:r>
                        <a:rPr 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sz="7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이주희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TMS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시스템에 등록된 이메일 주소로 서류 요청을 보낸 적은 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Julia Lee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 한국인이라는 사실은 노상순 차장이 알려주었고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1" u="sng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모든 연락은 자신을 통해서만 하라며 직접 연락하지 말라는 지시를 내렸습니다</a:t>
                      </a:r>
                      <a:r>
                        <a:rPr 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이주희 님은 해당업체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Owner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 직접적으로 연락하지 않았다고 말씀 주셨습니다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회사 내 다른 직원도 해당업체와 연락이 되지 않았습니까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sz="7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이주희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Turner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과장이 두 기사분을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“United Southeastern LLC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신규 기사이며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Port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기사로 일할 예정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”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이라 얘기해주어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해당 기사에 대한 채용 절차를 </a:t>
                      </a: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마무리 지었으나 이후 최종적으로 연락이 되지 않았습니다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당시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Turner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과장에게 기사들이 연락이 안되는데 오는 게 맞는지 문의하였었고 본인은 </a:t>
                      </a:r>
                      <a:r>
                        <a:rPr lang="ko-KR" altLang="en-US" sz="800" b="1" kern="1200" dirty="0" err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누군지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모른다고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답변을 주었습니다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그래서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Turner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과장님이 보내준 기사니까 플릿 오너한테 연락을 해주세요 요청을 드렸지만 이후 업데이트는 없었습니다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1" kern="1200" dirty="0" err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주재민씨에게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관련 내용을 말씀 드렸더니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계속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(Turner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연락이 안되면 제가 연락 해볼게요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”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하셨고 이 후 주재민씨가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오너가 그 기사는 안 오기로 했다며 </a:t>
                      </a: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다른 기사를 보내겠다고 한다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”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전달해주었습니다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이주희 대리 얘기 중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올해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월 말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Over-Flow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물량이 예상되어 지입기사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2-3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명 추가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Hire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하라는 지시가 있어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SAV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쪽과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Contact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해보니 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주재민씨와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Turner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는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지입기사 구인에 부정적인 입장이었습니다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확인해보고 알려주겠다 라고 했으나 관련해서 따로 연락은 받지 못했으며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당시 지입기사 추가 구인 없이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Brokerage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운송으로 처리되었습니다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 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34290" marR="3429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100561"/>
                  </a:ext>
                </a:extLst>
              </a:tr>
            </a:tbl>
          </a:graphicData>
        </a:graphic>
      </p:graphicFrame>
      <p:sp>
        <p:nvSpPr>
          <p:cNvPr id="3" name="TextBox 1138937">
            <a:extLst>
              <a:ext uri="{FF2B5EF4-FFF2-40B4-BE49-F238E27FC236}">
                <a16:creationId xmlns:a16="http://schemas.microsoft.com/office/drawing/2014/main" id="{C1B3BDF2-5DF5-A765-BFBB-D79FEBA67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337" y="32274"/>
            <a:ext cx="3873082" cy="252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b">
              <a:lnSpc>
                <a:spcPct val="120000"/>
              </a:lnSpc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별첨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.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현지 직원 인터뷰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Summary –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이주희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(1/1)</a:t>
            </a:r>
            <a:endParaRPr lang="ko-KR" altLang="en-US" sz="1050" b="1" dirty="0">
              <a:solidFill>
                <a:prstClr val="black"/>
              </a:solidFill>
              <a:latin typeface="맑은 고딕" pitchFamily="50" charset="-127"/>
              <a:ea typeface="맑은 고딕" panose="020B0503020000020004" pitchFamily="50" charset="-127"/>
              <a:cs typeface="Arial" charset="0"/>
            </a:endParaRPr>
          </a:p>
        </p:txBody>
      </p:sp>
      <p:sp>
        <p:nvSpPr>
          <p:cNvPr id="9" name="화살표: 오각형 8">
            <a:extLst>
              <a:ext uri="{FF2B5EF4-FFF2-40B4-BE49-F238E27FC236}">
                <a16:creationId xmlns:a16="http://schemas.microsoft.com/office/drawing/2014/main" id="{869678F1-FA23-F4F0-0B1A-B6F77FC992E0}"/>
              </a:ext>
            </a:extLst>
          </p:cNvPr>
          <p:cNvSpPr/>
          <p:nvPr/>
        </p:nvSpPr>
        <p:spPr>
          <a:xfrm>
            <a:off x="1935346" y="2040105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기사 채용 </a:t>
            </a:r>
            <a:r>
              <a:rPr lang="en-US" altLang="ko-KR" sz="800" b="1" dirty="0"/>
              <a:t>&amp;</a:t>
            </a:r>
            <a:r>
              <a:rPr lang="ko-KR" altLang="en-US" sz="800" b="1" dirty="0"/>
              <a:t> </a:t>
            </a:r>
            <a:endParaRPr lang="en-US" altLang="ko-KR" sz="800" b="1" dirty="0"/>
          </a:p>
          <a:p>
            <a:pPr algn="ctr"/>
            <a:r>
              <a:rPr lang="ko-KR" altLang="en-US" sz="800" b="1" dirty="0"/>
              <a:t>파일 관리 문제</a:t>
            </a:r>
            <a:endParaRPr lang="en-US" altLang="ko-KR" sz="800" b="1" dirty="0"/>
          </a:p>
        </p:txBody>
      </p:sp>
      <p:sp>
        <p:nvSpPr>
          <p:cNvPr id="8" name="화살표: 오각형 7">
            <a:extLst>
              <a:ext uri="{FF2B5EF4-FFF2-40B4-BE49-F238E27FC236}">
                <a16:creationId xmlns:a16="http://schemas.microsoft.com/office/drawing/2014/main" id="{53F19C90-A9CC-B981-F2B7-7E846BC9FBC1}"/>
              </a:ext>
            </a:extLst>
          </p:cNvPr>
          <p:cNvSpPr/>
          <p:nvPr/>
        </p:nvSpPr>
        <p:spPr>
          <a:xfrm>
            <a:off x="1935345" y="3889178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이슈 운송사와의 </a:t>
            </a:r>
            <a:r>
              <a:rPr lang="en-US" altLang="ko-KR" sz="800" b="1" dirty="0"/>
              <a:t>Contact</a:t>
            </a:r>
            <a:r>
              <a:rPr lang="ko-KR" altLang="en-US" sz="800" b="1" dirty="0"/>
              <a:t> 제약</a:t>
            </a:r>
            <a:endParaRPr lang="en-US" altLang="ko-KR" sz="800" b="1" dirty="0"/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CCCB3337-C13E-BF39-782D-74755ECDD33B}"/>
              </a:ext>
            </a:extLst>
          </p:cNvPr>
          <p:cNvSpPr/>
          <p:nvPr/>
        </p:nvSpPr>
        <p:spPr>
          <a:xfrm>
            <a:off x="1935345" y="5318826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주재민 사원 </a:t>
            </a:r>
            <a:endParaRPr lang="en-US" altLang="ko-KR" sz="800" b="1" dirty="0"/>
          </a:p>
          <a:p>
            <a:pPr algn="ctr"/>
            <a:r>
              <a:rPr lang="ko-KR" altLang="en-US" sz="800" b="1" dirty="0"/>
              <a:t>이슈사 접촉 정황</a:t>
            </a:r>
            <a:endParaRPr lang="en-US" altLang="ko-KR" sz="800" b="1" dirty="0"/>
          </a:p>
        </p:txBody>
      </p:sp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DAFD72DC-9132-6289-1495-EB5C71D0ED58}"/>
              </a:ext>
            </a:extLst>
          </p:cNvPr>
          <p:cNvSpPr/>
          <p:nvPr/>
        </p:nvSpPr>
        <p:spPr>
          <a:xfrm>
            <a:off x="1935345" y="6191208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추가 기사채용</a:t>
            </a:r>
            <a:endParaRPr lang="en-US" altLang="ko-KR" sz="800" b="1" dirty="0"/>
          </a:p>
          <a:p>
            <a:pPr algn="ctr"/>
            <a:r>
              <a:rPr lang="ko-KR" altLang="en-US" sz="800" b="1" dirty="0"/>
              <a:t>입장</a:t>
            </a:r>
            <a:endParaRPr lang="en-US" altLang="ko-KR" sz="800" b="1" dirty="0"/>
          </a:p>
        </p:txBody>
      </p:sp>
      <p:sp>
        <p:nvSpPr>
          <p:cNvPr id="10" name="Action Button: Go Back or Previous 2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27F3119-1340-0A4A-FED2-533F2BD58AAC}"/>
              </a:ext>
            </a:extLst>
          </p:cNvPr>
          <p:cNvSpPr/>
          <p:nvPr/>
        </p:nvSpPr>
        <p:spPr>
          <a:xfrm>
            <a:off x="10285404" y="67722"/>
            <a:ext cx="276223" cy="144109"/>
          </a:xfrm>
          <a:prstGeom prst="actionButtonBackPrevious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7F38B-A449-13DC-B286-3901CC877A96}"/>
              </a:ext>
            </a:extLst>
          </p:cNvPr>
          <p:cNvSpPr txBox="1"/>
          <p:nvPr/>
        </p:nvSpPr>
        <p:spPr>
          <a:xfrm>
            <a:off x="5418668" y="6698467"/>
            <a:ext cx="1354665" cy="20884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19/5/81</a:t>
            </a:r>
          </a:p>
        </p:txBody>
      </p:sp>
    </p:spTree>
    <p:extLst>
      <p:ext uri="{BB962C8B-B14F-4D97-AF65-F5344CB8AC3E}">
        <p14:creationId xmlns:p14="http://schemas.microsoft.com/office/powerpoint/2010/main" val="727241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7C5CF-7864-348D-9417-C5A75DE6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A83E1847-3C04-FA44-6890-80135094B5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61794"/>
            <a:ext cx="9144000" cy="0"/>
          </a:xfrm>
          <a:prstGeom prst="line">
            <a:avLst/>
          </a:prstGeom>
          <a:noFill/>
          <a:ln w="34925">
            <a:gradFill flip="none" rotWithShape="1">
              <a:gsLst>
                <a:gs pos="0">
                  <a:schemeClr val="accent1">
                    <a:lumMod val="0"/>
                  </a:schemeClr>
                </a:gs>
                <a:gs pos="59000">
                  <a:schemeClr val="accent1">
                    <a:tint val="44500"/>
                    <a:satMod val="160000"/>
                    <a:lumMod val="76000"/>
                    <a:alpha val="76000"/>
                  </a:schemeClr>
                </a:gs>
                <a:gs pos="8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round/>
            <a:headEnd/>
            <a:tailEnd/>
          </a:ln>
          <a:effectLst/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endParaRPr lang="en-US" sz="1350" dirty="0">
              <a:solidFill>
                <a:prstClr val="black"/>
              </a:solidFill>
            </a:endParaRPr>
          </a:p>
        </p:txBody>
      </p:sp>
      <p:graphicFrame>
        <p:nvGraphicFramePr>
          <p:cNvPr id="7" name="Table 19">
            <a:extLst>
              <a:ext uri="{FF2B5EF4-FFF2-40B4-BE49-F238E27FC236}">
                <a16:creationId xmlns:a16="http://schemas.microsoft.com/office/drawing/2014/main" id="{A2085D9B-54C3-1733-A329-7BB1E3C4B6DD}"/>
              </a:ext>
            </a:extLst>
          </p:cNvPr>
          <p:cNvGraphicFramePr>
            <a:graphicFrameLocks noGrp="1"/>
          </p:cNvGraphicFramePr>
          <p:nvPr/>
        </p:nvGraphicFramePr>
        <p:xfrm>
          <a:off x="1833563" y="530230"/>
          <a:ext cx="8586787" cy="6198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243">
                  <a:extLst>
                    <a:ext uri="{9D8B030D-6E8A-4147-A177-3AD203B41FA5}">
                      <a16:colId xmlns:a16="http://schemas.microsoft.com/office/drawing/2014/main" val="961884145"/>
                    </a:ext>
                  </a:extLst>
                </a:gridCol>
                <a:gridCol w="663243">
                  <a:extLst>
                    <a:ext uri="{9D8B030D-6E8A-4147-A177-3AD203B41FA5}">
                      <a16:colId xmlns:a16="http://schemas.microsoft.com/office/drawing/2014/main" val="1914015129"/>
                    </a:ext>
                  </a:extLst>
                </a:gridCol>
                <a:gridCol w="7260301">
                  <a:extLst>
                    <a:ext uri="{9D8B030D-6E8A-4147-A177-3AD203B41FA5}">
                      <a16:colId xmlns:a16="http://schemas.microsoft.com/office/drawing/2014/main" val="273965049"/>
                    </a:ext>
                  </a:extLst>
                </a:gridCol>
              </a:tblGrid>
              <a:tr h="597662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현지직원 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인터뷰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심상훈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남동부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W&amp;D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사업실 총괄은 언제부터 맡으셨습니까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심상훈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2023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월부터 맡았습니다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운송은 같은 해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분기부터 본격적으로 관할했습니다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이번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United Southeastern Freight Lines LLC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운송사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이슈는 언제 처음 인지하셨습니까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심상훈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김상범 팀장에게 전화 받고 처음 알았습니다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해당 운송사의 오너명이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‘Julia’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였지만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 차장 배우자인지는 확인하지 못했고 </a:t>
                      </a: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주소가 노상순 차장 자택으로 되어있어 임승택 상무님께 직접 보고 드렸습니다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노상순 차장의 와이프인 이윤주씨의 명의로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Savannah Freight Lines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LLC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라는 회사가 하나 더 있는데 알고 계십니까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심상훈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4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 당사 야드에 주차된 차량을 보고 확인 요청했고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17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일경 해당 법인도 노상순씨 자택과 동일 주소인 것을 확인했습니다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Turner Cameron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은 누구 소개로 입사했으며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수행은 어떠하였습니까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심상훈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소개자는 기억나지 않으며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인터뷰 당시 경찰 출신이라는 점만 기억합니다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차량 관리는 성실히 수행했고 외부 컴플레인은 없었습니다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Corey Cameron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형제임에도 같이 채용된 이유는 무엇입니까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심상훈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당시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safety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인력이 부족해서 채용하게 되었고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형제 사실은 나중에 알게 되었습니다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Corey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Cameron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업무 평가는 어떠합니까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심상훈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차량 수리 등 기술 업무를 했고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그로 인해 팀에서는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Cost Saving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기여한 것으로 평가되었습니다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서미정 씨는 어떻게 채용되었습니까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심상훈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노상순 차장이 이력서를 추천했으니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당시에는 보류했습니다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이후 주재민씨가 퇴사 의사를 밝히자 김상범 팀장과 논의 후 채용했습니다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운송 관련 경력은 없고 프로그래밍 경력이 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김상범 팀장에게 이력서를 전달한 사람은 누구입니까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심상훈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제가 전달했을 가능성이 가장 높습니다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1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주재민씨 업무 평가는 어떠합니까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심상훈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팀 구성 시 반드시 필요한 인재로 판단했습니다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성실하고 일 잘했습니다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이번 이슈가 개인의 일탈이라 보십니까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아니면 다른 누군가 연결되었을 수도 있다고 생각되십니까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심상훈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윤성규를 통해 들어온 인물들이 많습니다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윤광철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노상순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김영삼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김준호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이현석 등은 모두 퇴사 후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YG, YWK,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정트럭킹 등지에서 근무 중입니다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정산팀도 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GET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출신이 많으며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정미나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이현희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이주희도 같은 배경입니다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어디까지 연결돼 있는지 명확하지 않아 불안하게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느껴집니다</a:t>
                      </a:r>
                      <a:r>
                        <a:rPr lang="en-US" altLang="ko-KR" sz="800" b="1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4290" marR="34290" marT="34290" marB="3429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100561"/>
                  </a:ext>
                </a:extLst>
              </a:tr>
            </a:tbl>
          </a:graphicData>
        </a:graphic>
      </p:graphicFrame>
      <p:sp>
        <p:nvSpPr>
          <p:cNvPr id="3" name="TextBox 1138937">
            <a:extLst>
              <a:ext uri="{FF2B5EF4-FFF2-40B4-BE49-F238E27FC236}">
                <a16:creationId xmlns:a16="http://schemas.microsoft.com/office/drawing/2014/main" id="{3B3E3AD6-8196-9751-A072-8591BB6C4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353" y="44226"/>
            <a:ext cx="3408236" cy="252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b">
              <a:lnSpc>
                <a:spcPct val="120000"/>
              </a:lnSpc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별첨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.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현지 직원 인터뷰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Summary – </a:t>
            </a:r>
            <a:r>
              <a:rPr lang="ko-KR" altLang="en-US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심상훈 </a:t>
            </a:r>
            <a:r>
              <a: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anose="020B0503020000020004" pitchFamily="50" charset="-127"/>
                <a:cs typeface="Arial" charset="0"/>
              </a:rPr>
              <a:t>(1/1)</a:t>
            </a:r>
            <a:endParaRPr lang="ko-KR" altLang="en-US" sz="1050" b="1" dirty="0">
              <a:solidFill>
                <a:prstClr val="black"/>
              </a:solidFill>
              <a:latin typeface="맑은 고딕" pitchFamily="50" charset="-127"/>
              <a:ea typeface="맑은 고딕" panose="020B0503020000020004" pitchFamily="50" charset="-127"/>
              <a:cs typeface="Arial" charset="0"/>
            </a:endParaRPr>
          </a:p>
        </p:txBody>
      </p:sp>
      <p:sp>
        <p:nvSpPr>
          <p:cNvPr id="10" name="Action Button: Go Back or Previous 2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26285C2-C5DC-663C-E687-5DC4C86AD319}"/>
              </a:ext>
            </a:extLst>
          </p:cNvPr>
          <p:cNvSpPr/>
          <p:nvPr/>
        </p:nvSpPr>
        <p:spPr>
          <a:xfrm>
            <a:off x="10144127" y="103038"/>
            <a:ext cx="276223" cy="144109"/>
          </a:xfrm>
          <a:prstGeom prst="actionButtonBackPrevious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4" name="화살표: 오각형 3">
            <a:extLst>
              <a:ext uri="{FF2B5EF4-FFF2-40B4-BE49-F238E27FC236}">
                <a16:creationId xmlns:a16="http://schemas.microsoft.com/office/drawing/2014/main" id="{B9AA73DE-B248-0097-3C9B-7292352BDFB2}"/>
              </a:ext>
            </a:extLst>
          </p:cNvPr>
          <p:cNvSpPr/>
          <p:nvPr/>
        </p:nvSpPr>
        <p:spPr>
          <a:xfrm>
            <a:off x="2086088" y="2340480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관련자 채용 경위</a:t>
            </a:r>
            <a:endParaRPr lang="en-US" altLang="ko-KR" sz="800" b="1" dirty="0"/>
          </a:p>
        </p:txBody>
      </p:sp>
      <p:sp>
        <p:nvSpPr>
          <p:cNvPr id="9" name="화살표: 오각형 8">
            <a:extLst>
              <a:ext uri="{FF2B5EF4-FFF2-40B4-BE49-F238E27FC236}">
                <a16:creationId xmlns:a16="http://schemas.microsoft.com/office/drawing/2014/main" id="{9FB6C9D7-8E5A-4496-D0FB-56DFBB0464EF}"/>
              </a:ext>
            </a:extLst>
          </p:cNvPr>
          <p:cNvSpPr/>
          <p:nvPr/>
        </p:nvSpPr>
        <p:spPr>
          <a:xfrm>
            <a:off x="2086087" y="1071961"/>
            <a:ext cx="1040991" cy="363394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이슈 운송사 인지</a:t>
            </a:r>
            <a:endParaRPr lang="en-US" altLang="ko-KR" sz="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EE283-B52B-0B0E-F882-6CA802C6F7F3}"/>
              </a:ext>
            </a:extLst>
          </p:cNvPr>
          <p:cNvSpPr txBox="1"/>
          <p:nvPr/>
        </p:nvSpPr>
        <p:spPr>
          <a:xfrm>
            <a:off x="5418668" y="6671572"/>
            <a:ext cx="1354665" cy="20884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20/5/81</a:t>
            </a:r>
          </a:p>
        </p:txBody>
      </p:sp>
    </p:spTree>
    <p:extLst>
      <p:ext uri="{BB962C8B-B14F-4D97-AF65-F5344CB8AC3E}">
        <p14:creationId xmlns:p14="http://schemas.microsoft.com/office/powerpoint/2010/main" val="1465402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2791</Words>
  <Application>Microsoft Office PowerPoint</Application>
  <PresentationFormat>와이드스크린</PresentationFormat>
  <Paragraphs>330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JIEUN YU (유지은)</dc:creator>
  <cp:lastModifiedBy>JIEUN YU (유지은)</cp:lastModifiedBy>
  <cp:revision>1</cp:revision>
  <dcterms:created xsi:type="dcterms:W3CDTF">2026-06-02T15:56:29Z</dcterms:created>
  <dcterms:modified xsi:type="dcterms:W3CDTF">2026-06-10T05:55:15Z</dcterms:modified>
</cp:coreProperties>
</file>